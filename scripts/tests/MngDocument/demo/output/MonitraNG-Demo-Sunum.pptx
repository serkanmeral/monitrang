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theme" Target="theme/theme1.xml"/>
</Relationships>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1143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400" b="1">
                <a:solidFill>
                  <a:srgbClr val="FF1F4E79"/>
                </a:solidFill>
              </a:rPr>
              <a:t>MonitraNG Document Intelligence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8200" y="1900000"/>
            <a:ext cx="10515600" cy="42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400">
                <a:solidFill>
                  <a:srgbClr val="FF44546A"/>
                </a:solidFill>
              </a:rPr>
              <a:t>Kurumsal dokuman, tablo ve sunum yonetimi</a:t>
            </a:r>
          </a:p>
          <a:p>
            <a:r>
              <a:rPr lang="tr-TR" sz="2400">
                <a:solidFill>
                  <a:srgbClr val="FF44546A"/>
                </a:solidFill>
              </a:rPr>
              <a:t>Collabora Online ile tarayicida duzenleme</a:t>
            </a:r>
          </a:p>
          <a:p>
            <a:r>
              <a:rPr lang="tr-TR" sz="2400">
                <a:solidFill>
                  <a:srgbClr val="FF44546A"/>
                </a:solidFill>
              </a:rPr>
              <a:t>Demo tarihi: 07.07.2026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1143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400" b="1">
                <a:solidFill>
                  <a:srgbClr val="FF1F4E79"/>
                </a:solidFill>
              </a:rPr>
              <a:t>Platform yetenekleri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8200" y="1900000"/>
            <a:ext cx="10515600" cy="42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400">
                <a:solidFill>
                  <a:srgbClr val="FF44546A"/>
                </a:solidFill>
              </a:rPr>
              <a:t>• Kaynak agaci — klasor, sayfa, dosya</a:t>
            </a:r>
          </a:p>
          <a:p>
            <a:r>
              <a:rPr lang="tr-TR" sz="2400">
                <a:solidFill>
                  <a:srgbClr val="FF44546A"/>
                </a:solidFill>
              </a:rPr>
              <a:t>• Native DOCX, elektronik tablo (XLSX), sunum (PPTX)</a:t>
            </a:r>
          </a:p>
          <a:p>
            <a:r>
              <a:rPr lang="tr-TR" sz="2400">
                <a:solidFill>
                  <a:srgbClr val="FF44546A"/>
                </a:solidFill>
              </a:rPr>
              <a:t>• Surum gecmisi ve ortak duzenleme (Collabora)</a:t>
            </a:r>
          </a:p>
          <a:p>
            <a:r>
              <a:rPr lang="tr-TR" sz="2400">
                <a:solidFill>
                  <a:srgbClr val="FF44546A"/>
                </a:solidFill>
              </a:rPr>
              <a:t>• Sablondan dokuman uretimi ve PDF disa aktarma</a:t>
            </a:r>
          </a:p>
          <a:p>
            <a:r>
              <a:rPr lang="tr-TR" sz="2400">
                <a:solidFill>
                  <a:srgbClr val="FF44546A"/>
                </a:solidFill>
              </a:rPr>
              <a:t>• Yetki matrisi ve is akisi entegrasyonu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1143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400" b="1">
                <a:solidFill>
                  <a:srgbClr val="FF1F4E79"/>
                </a:solidFill>
              </a:rPr>
              <a:t>Canli KPI ornegi</a:t>
            </a:r>
          </a:p>
        </p:txBody>
      </p:sp>
      <p:sp>
        <p:nvSpPr>
          <p:cNvPr id="3" name="KPI 3"/>
          <p:cNvSpPr/>
          <p:nvPr/>
        </p:nvSpPr>
        <p:spPr>
          <a:xfrm>
            <a:off x="838200" y="2006600"/>
            <a:ext cx="3200000" cy="18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2F5496"/>
            </a:solidFill>
          </a:ln>
        </p:spPr>
        <p:txBody>
          <a:bodyPr anchor="ctr"/>
          <a:lstStyle/>
          <a:p>
            <a:pPr algn="ctr"/>
            <a:r>
              <a:rPr lang="tr-TR" sz="2000" b="1">
                <a:solidFill>
                  <a:srgbClr val="FF2F5496"/>
                </a:solidFill>
              </a:rPr>
              <a:t>Uptime</a:t>
            </a:r>
          </a:p>
          <a:p>
            <a:pPr algn="ctr"/>
            <a:r>
              <a:rPr lang="tr-TR" sz="3600" b="1">
                <a:solidFill>
                  <a:srgbClr val="FF1F4E79"/>
                </a:solidFill>
              </a:rPr>
              <a:t>99.4%</a:t>
            </a:r>
          </a:p>
        </p:txBody>
      </p:sp>
      <p:sp>
        <p:nvSpPr>
          <p:cNvPr id="4" name="KPI 4"/>
          <p:cNvSpPr/>
          <p:nvPr/>
        </p:nvSpPr>
        <p:spPr>
          <a:xfrm>
            <a:off x="4560000" y="2006600"/>
            <a:ext cx="3200000" cy="18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ED7D31"/>
            </a:solidFill>
          </a:ln>
        </p:spPr>
        <p:txBody>
          <a:bodyPr anchor="ctr"/>
          <a:lstStyle/>
          <a:p>
            <a:pPr algn="ctr"/>
            <a:r>
              <a:rPr lang="tr-TR" sz="2000" b="1">
                <a:solidFill>
                  <a:srgbClr val="FFED7D31"/>
                </a:solidFill>
              </a:rPr>
              <a:t>Alarmlar</a:t>
            </a:r>
          </a:p>
          <a:p>
            <a:pPr algn="ctr"/>
            <a:r>
              <a:rPr lang="tr-TR" sz="3600" b="1">
                <a:solidFill>
                  <a:srgbClr val="FF1F4E79"/>
                </a:solidFill>
              </a:rPr>
              <a:t>118</a:t>
            </a:r>
          </a:p>
        </p:txBody>
      </p:sp>
      <p:sp>
        <p:nvSpPr>
          <p:cNvPr id="5" name="KPI 5"/>
          <p:cNvSpPr/>
          <p:nvPr/>
        </p:nvSpPr>
        <p:spPr>
          <a:xfrm>
            <a:off x="8280000" y="2006600"/>
            <a:ext cx="3200000" cy="18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70AD47"/>
            </a:solidFill>
          </a:ln>
        </p:spPr>
        <p:txBody>
          <a:bodyPr anchor="ctr"/>
          <a:lstStyle/>
          <a:p>
            <a:pPr algn="ctr"/>
            <a:r>
              <a:rPr lang="tr-TR" sz="2000" b="1">
                <a:solidFill>
                  <a:srgbClr val="FF70AD47"/>
                </a:solidFill>
              </a:rPr>
              <a:t>Enerji</a:t>
            </a:r>
          </a:p>
          <a:p>
            <a:pPr algn="ctr"/>
            <a:r>
              <a:rPr lang="tr-TR" sz="3600" b="1">
                <a:solidFill>
                  <a:srgbClr val="FF1F4E79"/>
                </a:solidFill>
              </a:rPr>
              <a:t>14.8 GWh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42000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000">
                <a:solidFill>
                  <a:srgbClr val="FF44546A"/>
                </a:solidFill>
              </a:rPr>
              <a:t>Aylik tesis metrikleri — Collabora Calc ile canli baglanabilir</a:t>
            </a:r>
          </a:p>
        </p:txBody>
      </p:sp>
    </p:spTree>
  </p:cSld>
  <p:clrMapOvr>
    <a:masterClrMapping/>
  </p:clrMapOvr>
  <p:transition spd="med" advClick="1">
    <p:split orient="vert"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1143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400" b="1">
                <a:solidFill>
                  <a:srgbClr val="FF1F4E79"/>
                </a:solidFill>
              </a:rPr>
              <a:t>Aylik alarm trendi</a:t>
            </a:r>
          </a:p>
        </p:txBody>
      </p:sp>
      <p:sp>
        <p:nvSpPr>
          <p:cNvPr id="3" name="Shape 3"/>
          <p:cNvSpPr/>
          <p:nvPr/>
        </p:nvSpPr>
        <p:spPr>
          <a:xfrm>
            <a:off x="1200000" y="2200000"/>
            <a:ext cx="9600000" cy="3600000"/>
          </a:xfrm>
          <a:prstGeom prst="rect">
            <a:avLst/>
          </a:prstGeom>
          <a:solidFill>
            <a:srgbClr val="FFF8F8F8"/>
          </a:solidFill>
          <a:ln w="9525">
            <a:solidFill>
              <a:srgbClr val="FFD9D9D9"/>
            </a:solidFill>
          </a:ln>
        </p:spPr>
        <p:txBody>
          <a:bodyPr/>
          <a:lstStyle/>
        </p:txBody>
      </p:sp>
      <p:cxnSp>
        <p:nvCxnSpPr>
          <p:cNvPr id="4" name="Line 4"/>
          <p:cNvCxnSpPr/>
          <p:nvPr/>
        </p:nvCxnSpPr>
        <p:spPr>
          <a:xfrm>
            <a:off x="2000000" y="5600000"/>
            <a:ext cx="8600000" cy="0"/>
          </a:xfrm>
          <a:prstGeom prst="line">
            <a:avLst/>
          </a:prstGeom>
          <a:ln w="19050">
            <a:solidFill>
              <a:srgbClr val="FF44546A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2000000" y="3526400"/>
            <a:ext cx="800000" cy="2073600"/>
          </a:xfrm>
          <a:prstGeom prst="rect">
            <a:avLst/>
          </a:prstGeom>
          <a:solidFill>
            <a:srgbClr val="FF4472C4"/>
          </a:solidFill>
          <a:ln w="0">
            <a:solidFill>
              <a:srgbClr val="FF4472C4"/>
            </a:solidFill>
          </a:ln>
        </p:spPr>
        <p:txBody>
          <a:bodyPr/>
          <a:lstStyle/>
        </p:txBody>
      </p:sp>
      <p:sp>
        <p:nvSpPr>
          <p:cNvPr id="6" name="TextBox 6"/>
          <p:cNvSpPr txBox="1"/>
          <p:nvPr/>
        </p:nvSpPr>
        <p:spPr>
          <a:xfrm>
            <a:off x="1950000" y="5680000"/>
            <a:ext cx="9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Oca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0000" y="3176400"/>
            <a:ext cx="9000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400" b="1">
                <a:solidFill>
                  <a:srgbClr val="FF1F4E79"/>
                </a:solidFill>
              </a:rPr>
              <a:t>12</a:t>
            </a:r>
          </a:p>
        </p:txBody>
      </p:sp>
      <p:sp>
        <p:nvSpPr>
          <p:cNvPr id="8" name="Shape 8"/>
          <p:cNvSpPr/>
          <p:nvPr/>
        </p:nvSpPr>
        <p:spPr>
          <a:xfrm>
            <a:off x="3600000" y="3008000"/>
            <a:ext cx="800000" cy="2592000"/>
          </a:xfrm>
          <a:prstGeom prst="rect">
            <a:avLst/>
          </a:prstGeom>
          <a:solidFill>
            <a:srgbClr val="FF4472C4"/>
          </a:solidFill>
          <a:ln w="0">
            <a:solidFill>
              <a:srgbClr val="FF4472C4"/>
            </a:solidFill>
          </a:ln>
        </p:spPr>
        <p:txBody>
          <a:bodyPr/>
          <a:lstStyle/>
        </p:txBody>
      </p:sp>
      <p:sp>
        <p:nvSpPr>
          <p:cNvPr id="9" name="TextBox 9"/>
          <p:cNvSpPr txBox="1"/>
          <p:nvPr/>
        </p:nvSpPr>
        <p:spPr>
          <a:xfrm>
            <a:off x="3550000" y="5680000"/>
            <a:ext cx="9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Mar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50000" y="2658000"/>
            <a:ext cx="9000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400" b="1">
                <a:solidFill>
                  <a:srgbClr val="FF1F4E79"/>
                </a:solidFill>
              </a:rPr>
              <a:t>15</a:t>
            </a:r>
          </a:p>
        </p:txBody>
      </p:sp>
      <p:sp>
        <p:nvSpPr>
          <p:cNvPr id="11" name="Shape 11"/>
          <p:cNvSpPr/>
          <p:nvPr/>
        </p:nvSpPr>
        <p:spPr>
          <a:xfrm>
            <a:off x="5200000" y="3699200"/>
            <a:ext cx="800000" cy="1900800"/>
          </a:xfrm>
          <a:prstGeom prst="rect">
            <a:avLst/>
          </a:prstGeom>
          <a:solidFill>
            <a:srgbClr val="FF4472C4"/>
          </a:solidFill>
          <a:ln w="0">
            <a:solidFill>
              <a:srgbClr val="FF4472C4"/>
            </a:solidFill>
          </a:ln>
        </p:spPr>
        <p:txBody>
          <a:bodyPr/>
          <a:lstStyle/>
        </p:txBody>
      </p:sp>
      <p:sp>
        <p:nvSpPr>
          <p:cNvPr id="12" name="TextBox 12"/>
          <p:cNvSpPr txBox="1"/>
          <p:nvPr/>
        </p:nvSpPr>
        <p:spPr>
          <a:xfrm>
            <a:off x="5150000" y="5680000"/>
            <a:ext cx="9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May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50000" y="3349200"/>
            <a:ext cx="9000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400" b="1">
                <a:solidFill>
                  <a:srgbClr val="FF1F4E79"/>
                </a:solidFill>
              </a:rPr>
              <a:t>11</a:t>
            </a:r>
          </a:p>
        </p:txBody>
      </p:sp>
      <p:sp>
        <p:nvSpPr>
          <p:cNvPr id="14" name="Shape 14"/>
          <p:cNvSpPr/>
          <p:nvPr/>
        </p:nvSpPr>
        <p:spPr>
          <a:xfrm>
            <a:off x="6800000" y="3180800"/>
            <a:ext cx="800000" cy="2419200"/>
          </a:xfrm>
          <a:prstGeom prst="rect">
            <a:avLst/>
          </a:prstGeom>
          <a:solidFill>
            <a:srgbClr val="FF4472C4"/>
          </a:solidFill>
          <a:ln w="0">
            <a:solidFill>
              <a:srgbClr val="FF4472C4"/>
            </a:solidFill>
          </a:ln>
        </p:spPr>
        <p:txBody>
          <a:bodyPr/>
          <a:lstStyle/>
        </p:txBody>
      </p:sp>
      <p:sp>
        <p:nvSpPr>
          <p:cNvPr id="15" name="TextBox 15"/>
          <p:cNvSpPr txBox="1"/>
          <p:nvPr/>
        </p:nvSpPr>
        <p:spPr>
          <a:xfrm>
            <a:off x="6750000" y="5680000"/>
            <a:ext cx="9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50000" y="2830800"/>
            <a:ext cx="9000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400" b="1">
                <a:solidFill>
                  <a:srgbClr val="FF1F4E79"/>
                </a:solidFill>
              </a:rPr>
              <a:t>14</a:t>
            </a:r>
          </a:p>
        </p:txBody>
      </p:sp>
      <p:sp>
        <p:nvSpPr>
          <p:cNvPr id="17" name="Shape 17"/>
          <p:cNvSpPr/>
          <p:nvPr/>
        </p:nvSpPr>
        <p:spPr>
          <a:xfrm>
            <a:off x="8400000" y="4390400"/>
            <a:ext cx="800000" cy="1209600"/>
          </a:xfrm>
          <a:prstGeom prst="rect">
            <a:avLst/>
          </a:prstGeom>
          <a:solidFill>
            <a:srgbClr val="FF4472C4"/>
          </a:solidFill>
          <a:ln w="0">
            <a:solidFill>
              <a:srgbClr val="FF4472C4"/>
            </a:solidFill>
          </a:ln>
        </p:spPr>
        <p:txBody>
          <a:bodyPr/>
          <a:lstStyle/>
        </p:txBody>
      </p:sp>
      <p:sp>
        <p:nvSpPr>
          <p:cNvPr id="18" name="TextBox 18"/>
          <p:cNvSpPr txBox="1"/>
          <p:nvPr/>
        </p:nvSpPr>
        <p:spPr>
          <a:xfrm>
            <a:off x="8350000" y="5680000"/>
            <a:ext cx="9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Eyl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50000" y="4040400"/>
            <a:ext cx="9000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400" b="1">
                <a:solidFill>
                  <a:srgbClr val="FF1F4E79"/>
                </a:solidFill>
              </a:rPr>
              <a:t>7</a:t>
            </a:r>
          </a:p>
        </p:txBody>
      </p:sp>
      <p:sp>
        <p:nvSpPr>
          <p:cNvPr id="20" name="Shape 20"/>
          <p:cNvSpPr/>
          <p:nvPr/>
        </p:nvSpPr>
        <p:spPr>
          <a:xfrm>
            <a:off x="10000000" y="4044800"/>
            <a:ext cx="800000" cy="1555200"/>
          </a:xfrm>
          <a:prstGeom prst="rect">
            <a:avLst/>
          </a:prstGeom>
          <a:solidFill>
            <a:srgbClr val="FF4472C4"/>
          </a:solidFill>
          <a:ln w="0">
            <a:solidFill>
              <a:srgbClr val="FF4472C4"/>
            </a:solidFill>
          </a:ln>
        </p:spPr>
        <p:txBody>
          <a:bodyPr/>
          <a:lstStyle/>
        </p:txBody>
      </p:sp>
      <p:sp>
        <p:nvSpPr>
          <p:cNvPr id="21" name="TextBox 21"/>
          <p:cNvSpPr txBox="1"/>
          <p:nvPr/>
        </p:nvSpPr>
        <p:spPr>
          <a:xfrm>
            <a:off x="9950000" y="5680000"/>
            <a:ext cx="9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Kas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50000" y="3694800"/>
            <a:ext cx="9000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400" b="1">
                <a:solidFill>
                  <a:srgbClr val="FF1F4E79"/>
                </a:solidFill>
              </a:rPr>
              <a:t>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0000" y="2000000"/>
            <a:ext cx="96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200" b="1">
                <a:solidFill>
                  <a:srgbClr val="FF2F5496"/>
                </a:solidFill>
              </a:rPr>
              <a:t>Aylik alarm sayisi (6 ay ornek)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8200" y="6000000"/>
            <a:ext cx="105156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000">
                <a:solidFill>
                  <a:srgbClr val="FF7F7F7F"/>
                </a:solidFill>
              </a:rPr>
              <a:t>Elektronik tablo Veriler sayfasi ile ayni veri seti</a:t>
            </a:r>
          </a:p>
        </p:txBody>
      </p:sp>
    </p:spTree>
  </p:cSld>
  <p:clrMapOvr>
    <a:masterClrMapping/>
  </p:clrMapOvr>
  <p:transition spd="med" advClick="1">
    <p:cover dir="l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1143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400" b="1">
                <a:solidFill>
                  <a:srgbClr val="FF1F4E79"/>
                </a:solidFill>
              </a:rPr>
              <a:t>Elektronik tablo demosu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8200" y="1900000"/>
            <a:ext cx="10515600" cy="42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400">
                <a:solidFill>
                  <a:srgbClr val="FF44546A"/>
                </a:solidFill>
              </a:rPr>
              <a:t>• 4 sayfa: Dashboard, Veriler, Ozet, Grafikler</a:t>
            </a:r>
          </a:p>
          <a:p>
            <a:r>
              <a:rPr lang="tr-TR" sz="2400">
                <a:solidFill>
                  <a:srgbClr val="FF44546A"/>
                </a:solidFill>
              </a:rPr>
              <a:t>• SUM, AVERAGE, MAX, COUNTIF, IF formulleri</a:t>
            </a:r>
          </a:p>
          <a:p>
            <a:r>
              <a:rPr lang="tr-TR" sz="2400">
                <a:solidFill>
                  <a:srgbClr val="FF44546A"/>
                </a:solidFill>
              </a:rPr>
              <a:t>• Gomulu sutun grafikleri ve veri cubuklari</a:t>
            </a:r>
          </a:p>
          <a:p>
            <a:r>
              <a:rPr lang="tr-TR" sz="2400">
                <a:solidFill>
                  <a:srgbClr val="FF44546A"/>
                </a:solidFill>
              </a:rPr>
              <a:t>• Collabora Calc'ta anlik hesaplama</a:t>
            </a:r>
          </a:p>
        </p:txBody>
      </p:sp>
    </p:spTree>
  </p:cSld>
  <p:clrMapOvr>
    <a:masterClrMapping/>
  </p:clrMapOvr>
  <p:transition spd="med" advClick="1">
    <p:blinds dim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1143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400" b="1">
                <a:solidFill>
                  <a:srgbClr val="FF1F4E79"/>
                </a:solidFill>
              </a:rPr>
              <a:t>Canli demo akisi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8200" y="1900000"/>
            <a:ext cx="10515600" cy="42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400">
                <a:solidFill>
                  <a:srgbClr val="FF44546A"/>
                </a:solidFill>
              </a:rPr>
              <a:t>1. Demo Elektronik Tablo'yu Collabora'da ac</a:t>
            </a:r>
          </a:p>
          <a:p>
            <a:r>
              <a:rPr lang="tr-TR" sz="2400">
                <a:solidFill>
                  <a:srgbClr val="FF44546A"/>
                </a:solidFill>
              </a:rPr>
              <a:t>2. Grafikler sayfasini ve formulleri goster</a:t>
            </a:r>
          </a:p>
          <a:p>
            <a:r>
              <a:rPr lang="tr-TR" sz="2400">
                <a:solidFill>
                  <a:srgbClr val="FF44546A"/>
                </a:solidFill>
              </a:rPr>
              <a:t>3. Sunumu slayt gosteriminde baslat (F5)</a:t>
            </a:r>
          </a:p>
          <a:p>
            <a:r>
              <a:rPr lang="tr-TR" sz="2400">
                <a:solidFill>
                  <a:srgbClr val="FF44546A"/>
                </a:solidFill>
              </a:rPr>
              <a:t>4. PDF disa aktar (DI veya Collabora menusu)</a:t>
            </a:r>
          </a:p>
          <a:p>
            <a:r>
              <a:rPr lang="tr-TR" sz="2400">
                <a:solidFill>
                  <a:srgbClr val="FF44546A"/>
                </a:solidFill>
              </a:rPr>
              <a:t>5. Surum gecmisinden onceki haline don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1143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400" b="1">
                <a:solidFill>
                  <a:srgbClr val="FF1F4E79"/>
                </a:solidFill>
              </a:rPr>
              <a:t>Tesekkurler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8200" y="1900000"/>
            <a:ext cx="10515600" cy="42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400">
                <a:solidFill>
                  <a:srgbClr val="FF44546A"/>
                </a:solidFill>
              </a:rPr>
              <a:t>Sorulariniz?</a:t>
            </a:r>
          </a:p>
          <a:p>
            <a:r>
              <a:rPr lang="tr-TR" sz="2400">
                <a:solidFill>
                  <a:srgbClr val="FF44546A"/>
                </a:solidFill>
              </a:rPr>
              <a:t>MonitraNG — izleme ve dokuman zekasi</a:t>
            </a:r>
          </a:p>
          <a:p>
            <a:r>
              <a:rPr lang="tr-TR" sz="2400">
                <a:solidFill>
                  <a:srgbClr val="FF44546A"/>
                </a:solidFill>
              </a:rPr>
              <a:t>www.monitrang.com</a:t>
            </a:r>
          </a:p>
        </p:txBody>
      </p:sp>
    </p:spTree>
  </p:cSld>
  <p:clrMapOvr>
    <a:masterClrMapping/>
  </p:clrMapOvr>
  <p:transition spd="med" advClick="1">
    <p:push dir="l"/>
  </p:transition>
</p:sld>
</file>

<file path=ppt/theme/theme1.xml><?xml version="1.0" encoding="utf-8"?>
<a:theme xmlns:a="http://schemas.openxmlformats.org/drawingml/2006/main" name="MonitraNG">
  <a:themeElements>
    <a:clrScheme name="MonitraN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70AD47"/>
      </a:accent3>
      <a:accent4>
        <a:srgbClr val="FFC000"/>
      </a:accent4>
      <a:accent5>
        <a:srgbClr val="5B9BD5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