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theme" Target="theme/theme1.xml"/>
</Relationships>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600200"/>
          </a:xfrm>
          <a:prstGeom prst="rect">
            <a:avLst/>
          </a:prstGeom>
          <a:solidFill>
            <a:srgbClr val="FF1F4E79"/>
          </a:solidFill>
          <a:ln w="0">
            <a:solidFill>
              <a:srgbClr val="FF1F4E79"/>
            </a:solidFill>
          </a:ln>
        </p:spPr>
        <p:txBody>
          <a:bodyPr/>
          <a:lstStyle/>
        </p:txBody>
      </p:sp>
      <p:pic>
        <p:nvPicPr>
          <p:cNvPr id="3" name="Domain Logo"/>
          <p:cNvPicPr/>
          <p:nvPr/>
        </p:nvPicPr>
        <p:blipFill>
          <a:stretch>
            <a:fillRect/>
          </a:stretch>
        </p:blipFill>
        <p:spPr>
          <a:xfrm>
            <a:off x="9000000" y="200000"/>
            <a:ext cx="2800000" cy="1200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38200" y="480000"/>
            <a:ext cx="105156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800" b="1">
                <a:solidFill>
                  <a:srgbClr val="FFFFFFFF"/>
                </a:solidFill>
              </a:rPr>
              <a:t>{{documentName}}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1800000"/>
            <a:ext cx="105156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3200" b="1">
                <a:solidFill>
                  <a:srgbClr val="FF1F4E79"/>
                </a:solidFill>
              </a:rPr>
              <a:t>{{packageNo}}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2500000"/>
            <a:ext cx="105156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800">
                <a:solidFill>
                  <a:srgbClr val="FF44546A"/>
                </a:solidFill>
              </a:rPr>
              <a:t>{{packageName}}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00" y="3600000"/>
            <a:ext cx="105156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2F5496"/>
                </a:solidFill>
              </a:rPr>
              <a:t>{{customerName}}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5800000"/>
            <a:ext cx="52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>
                <a:solidFill>
                  <a:srgbClr val="FF7F7F7F"/>
                </a:solidFill>
              </a:rPr>
              <a:t>Liste: {{issueDate}}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00000" y="5800000"/>
            <a:ext cx="42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 b="1">
                <a:solidFill>
                  <a:srgbClr val="FFED7D31"/>
                </a:solidFill>
              </a:rPr>
              <a:t>{{deliveryUrgencyLabel}}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İş Paketi Özeti</a:t>
            </a:r>
          </a:p>
        </p:txBody>
      </p:sp>
      <p:sp>
        <p:nvSpPr>
          <p:cNvPr id="3" name="KPI 3"/>
          <p:cNvSpPr/>
          <p:nvPr/>
        </p:nvSpPr>
        <p:spPr>
          <a:xfrm>
            <a:off x="838200" y="1600000"/>
            <a:ext cx="3200000" cy="16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4472C4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4472C4"/>
                </a:solidFill>
              </a:rPr>
              <a:t>Durum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{{statusLabel}}</a:t>
            </a:r>
          </a:p>
        </p:txBody>
      </p:sp>
      <p:sp>
        <p:nvSpPr>
          <p:cNvPr id="4" name="KPI 4"/>
          <p:cNvSpPr/>
          <p:nvPr/>
        </p:nvSpPr>
        <p:spPr>
          <a:xfrm>
            <a:off x="4560000" y="1600000"/>
            <a:ext cx="3200000" cy="16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ED7D31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ED7D31"/>
                </a:solidFill>
              </a:rPr>
              <a:t>Termin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{{deliveryDate}}</a:t>
            </a:r>
          </a:p>
        </p:txBody>
      </p:sp>
      <p:sp>
        <p:nvSpPr>
          <p:cNvPr id="5" name="KPI 5"/>
          <p:cNvSpPr/>
          <p:nvPr/>
        </p:nvSpPr>
        <p:spPr>
          <a:xfrm>
            <a:off x="8280000" y="1600000"/>
            <a:ext cx="3200000" cy="16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AD47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70AD47"/>
                </a:solidFill>
              </a:rPr>
              <a:t>Başlangıç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{{beginDate}}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3600000"/>
            <a:ext cx="10515600" cy="2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400">
                <a:solidFill>
                  <a:srgbClr val="FF44546A"/>
                </a:solidFill>
              </a:rPr>
              <a:t>Sevkiyat durumu: {{shipmentSummary}} tamamlandı</a:t>
            </a:r>
          </a:p>
          <a:p>
            <a:r>
              <a:rPr lang="tr-TR" sz="2400">
                <a:solidFill>
                  <a:srgbClr val="FF44546A"/>
                </a:solidFill>
              </a:rPr>
              <a:t>Sevk edilen parça: {{shippedCount}} / {{partCount}}</a:t>
            </a:r>
          </a:p>
          <a:p>
            <a:r>
              <a:rPr lang="tr-TR" sz="2400">
                <a:solidFill>
                  <a:srgbClr val="FF44546A"/>
                </a:solidFill>
              </a:rPr>
              <a:t>Stok: {{stockCount}}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Operasyonel KPI'lar</a:t>
            </a:r>
          </a:p>
        </p:txBody>
      </p:sp>
      <p:sp>
        <p:nvSpPr>
          <p:cNvPr id="3" name="KPI 3"/>
          <p:cNvSpPr/>
          <p:nvPr/>
        </p:nvSpPr>
        <p:spPr>
          <a:xfrm>
            <a:off x="838200" y="1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4472C4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4472C4"/>
                </a:solidFill>
              </a:rPr>
              <a:t>Kalem Sayısı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{{lineCount}}</a:t>
            </a:r>
          </a:p>
        </p:txBody>
      </p:sp>
      <p:sp>
        <p:nvSpPr>
          <p:cNvPr id="4" name="KPI 4"/>
          <p:cNvSpPr/>
          <p:nvPr/>
        </p:nvSpPr>
        <p:spPr>
          <a:xfrm>
            <a:off x="4560000" y="1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ED7D31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ED7D31"/>
                </a:solidFill>
              </a:rPr>
              <a:t>Sevkiyat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{{shipmentSummary}}</a:t>
            </a:r>
          </a:p>
        </p:txBody>
      </p:sp>
      <p:sp>
        <p:nvSpPr>
          <p:cNvPr id="5" name="KPI 5"/>
          <p:cNvSpPr/>
          <p:nvPr/>
        </p:nvSpPr>
        <p:spPr>
          <a:xfrm>
            <a:off x="8280000" y="1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AD47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70AD47"/>
                </a:solidFill>
              </a:rPr>
              <a:t>Tamamlanma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{{fulfillmentPctLabel}}</a:t>
            </a:r>
          </a:p>
        </p:txBody>
      </p:sp>
      <p:sp>
        <p:nvSpPr>
          <p:cNvPr id="6" name="KPI 6"/>
          <p:cNvSpPr/>
          <p:nvPr/>
        </p:nvSpPr>
        <p:spPr>
          <a:xfrm>
            <a:off x="838200" y="3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C00000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C00000"/>
                </a:solidFill>
              </a:rPr>
              <a:t>Açık NCR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{{openNcrCount}}</a:t>
            </a:r>
          </a:p>
        </p:txBody>
      </p:sp>
      <p:sp>
        <p:nvSpPr>
          <p:cNvPr id="7" name="KPI 7"/>
          <p:cNvSpPr/>
          <p:nvPr/>
        </p:nvSpPr>
        <p:spPr>
          <a:xfrm>
            <a:off x="4560000" y="3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30A0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7030A0"/>
                </a:solidFill>
              </a:rPr>
              <a:t>Açık CAPA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{{openCapaCount}}</a:t>
            </a:r>
          </a:p>
        </p:txBody>
      </p:sp>
      <p:sp>
        <p:nvSpPr>
          <p:cNvPr id="8" name="KPI 8"/>
          <p:cNvSpPr/>
          <p:nvPr/>
        </p:nvSpPr>
        <p:spPr>
          <a:xfrm>
            <a:off x="8280000" y="3600000"/>
            <a:ext cx="3200000" cy="17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2F5496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2F5496"/>
                </a:solidFill>
              </a:rPr>
              <a:t>Kalan Miktar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{{remainingQuantity}}</a:t>
            </a:r>
          </a:p>
        </p:txBody>
      </p:sp>
    </p:spTree>
  </p:cSld>
  <p:clrMapOvr>
    <a:masterClrMapping/>
  </p:clrMapOvr>
  <p:transition spd="med" advClick="1">
    <p:split orient="vert"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Genel Tamamlanma</a:t>
            </a:r>
          </a:p>
        </p:txBody>
      </p:sp>
      <p:sp>
        <p:nvSpPr>
          <p:cNvPr id="3" name="KPI 3"/>
          <p:cNvSpPr/>
          <p:nvPr/>
        </p:nvSpPr>
        <p:spPr>
          <a:xfrm>
            <a:off x="838200" y="1500000"/>
            <a:ext cx="3200000" cy="18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4472C4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4472C4"/>
                </a:solidFill>
              </a:rPr>
              <a:t>Tamamlanma Oranı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{{fulfillmentPctLabel}}</a:t>
            </a:r>
          </a:p>
        </p:txBody>
      </p:sp>
      <p:sp>
        <p:nvSpPr>
          <p:cNvPr id="4" name="Shape 4"/>
          <p:cNvSpPr/>
          <p:nvPr/>
        </p:nvSpPr>
        <p:spPr>
          <a:xfrm>
            <a:off x="4560000" y="1500000"/>
            <a:ext cx="6400000" cy="3200000"/>
          </a:xfrm>
          <a:prstGeom prst="rect">
            <a:avLst/>
          </a:prstGeom>
          <a:solidFill>
            <a:srgbClr val="FFF8F9FA"/>
          </a:solidFill>
          <a:ln w="12700">
            <a:solidFill>
              <a:srgbClr val="FFD0D5DD"/>
            </a:solidFill>
          </a:ln>
        </p:spPr>
        <p:txBody>
          <a:bodyPr/>
          <a:lstStyle/>
        </p:txBody>
      </p:sp>
      <p:cxnSp>
        <p:nvCxnSpPr>
          <p:cNvPr id="5" name="Line 5"/>
          <p:cNvCxnSpPr/>
          <p:nvPr/>
        </p:nvCxnSpPr>
        <p:spPr>
          <a:xfrm>
            <a:off x="4960000" y="4520000"/>
            <a:ext cx="5800000" cy="0"/>
          </a:xfrm>
          <a:prstGeom prst="line">
            <a:avLst/>
          </a:prstGeom>
          <a:ln w="19050">
            <a:solidFill>
              <a:srgbClr val="FF44546A"/>
            </a:solidFill>
          </a:ln>
        </p:spPr>
      </p:cxnSp>
      <p:sp>
        <p:nvSpPr>
          <p:cNvPr id="6" name="FulfillBar Sevk"/>
          <p:cNvSpPr/>
          <p:nvPr/>
        </p:nvSpPr>
        <p:spPr>
          <a:xfrm>
            <a:off x="5200000" y="1896000"/>
            <a:ext cx="1280000" cy="2624000"/>
          </a:xfrm>
          <a:prstGeom prst="rect">
            <a:avLst/>
          </a:prstGeom>
          <a:solidFill>
            <a:srgbClr val="FF70AD47"/>
          </a:solidFill>
          <a:ln w="0">
            <a:solidFill>
              <a:srgbClr val="FF70AD47"/>
            </a:solidFill>
          </a:ln>
        </p:spPr>
        <p:txBody>
          <a:bodyPr/>
          <a:lstStyle/>
        </p:txBody>
      </p:sp>
      <p:sp>
        <p:nvSpPr>
          <p:cNvPr id="7" name="TextBox 7"/>
          <p:cNvSpPr txBox="1"/>
          <p:nvPr/>
        </p:nvSpPr>
        <p:spPr>
          <a:xfrm>
            <a:off x="5120000" y="442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Sevk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0000" y="1516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 b="1">
                <a:solidFill>
                  <a:srgbClr val="FF1F4E79"/>
                </a:solidFill>
              </a:rPr>
              <a:t>{{shippedCount}}</a:t>
            </a:r>
          </a:p>
        </p:txBody>
      </p:sp>
      <p:sp>
        <p:nvSpPr>
          <p:cNvPr id="9" name="FulfillBar Kalan"/>
          <p:cNvSpPr/>
          <p:nvPr/>
        </p:nvSpPr>
        <p:spPr>
          <a:xfrm>
            <a:off x="7120000" y="2760000"/>
            <a:ext cx="1280000" cy="1760000"/>
          </a:xfrm>
          <a:prstGeom prst="rect">
            <a:avLst/>
          </a:prstGeom>
          <a:solidFill>
            <a:srgbClr val="FFED7D31"/>
          </a:solidFill>
          <a:ln w="0">
            <a:solidFill>
              <a:srgbClr val="FFED7D31"/>
            </a:solidFill>
          </a:ln>
        </p:spPr>
        <p:txBody>
          <a:bodyPr/>
          <a:lstStyle/>
        </p:txBody>
      </p:sp>
      <p:sp>
        <p:nvSpPr>
          <p:cNvPr id="10" name="TextBox 10"/>
          <p:cNvSpPr txBox="1"/>
          <p:nvPr/>
        </p:nvSpPr>
        <p:spPr>
          <a:xfrm>
            <a:off x="7040000" y="442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Kalan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40000" y="238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 b="1">
                <a:solidFill>
                  <a:srgbClr val="FF1F4E79"/>
                </a:solidFill>
              </a:rPr>
              <a:t>{{remainingQuantity}}</a:t>
            </a:r>
          </a:p>
        </p:txBody>
      </p:sp>
      <p:sp>
        <p:nvSpPr>
          <p:cNvPr id="12" name="FulfillBar Stok"/>
          <p:cNvSpPr/>
          <p:nvPr/>
        </p:nvSpPr>
        <p:spPr>
          <a:xfrm>
            <a:off x="9040000" y="3400000"/>
            <a:ext cx="1280000" cy="1120000"/>
          </a:xfrm>
          <a:prstGeom prst="rect">
            <a:avLst/>
          </a:prstGeom>
          <a:solidFill>
            <a:srgbClr val="FF5B9BD5"/>
          </a:solidFill>
          <a:ln w="0">
            <a:solidFill>
              <a:srgbClr val="FF5B9BD5"/>
            </a:solidFill>
          </a:ln>
        </p:spPr>
        <p:txBody>
          <a:bodyPr/>
          <a:lstStyle/>
        </p:txBody>
      </p:sp>
      <p:sp>
        <p:nvSpPr>
          <p:cNvPr id="13" name="TextBox 13"/>
          <p:cNvSpPr txBox="1"/>
          <p:nvPr/>
        </p:nvSpPr>
        <p:spPr>
          <a:xfrm>
            <a:off x="8960000" y="442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600">
                <a:solidFill>
                  <a:srgbClr val="FF44546A"/>
                </a:solidFill>
              </a:rPr>
              <a:t>Stok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60000" y="3020000"/>
            <a:ext cx="1440000" cy="35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1800" b="1">
                <a:solidFill>
                  <a:srgbClr val="FF1F4E79"/>
                </a:solidFill>
              </a:rPr>
              <a:t>{{stockCount}}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0000" y="1320000"/>
            <a:ext cx="64000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 b="1">
                <a:solidFill>
                  <a:srgbClr val="FF2F5496"/>
                </a:solidFill>
              </a:rPr>
              <a:t>Sevk / Kalan / Stok dağılımı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6100000"/>
            <a:ext cx="105156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>
                <a:solidFill>
                  <a:srgbClr val="FF7F7F7F"/>
                </a:solidFill>
              </a:rPr>
              <a:t>Parça bazında: {{shippedCount}} / {{partCount}} sevk edildi</a:t>
            </a:r>
          </a:p>
        </p:txBody>
      </p:sp>
    </p:spTree>
  </p:cSld>
  <p:clrMapOvr>
    <a:masterClrMapping/>
  </p:clrMapOvr>
  <p:transition spd="med" advClick="1">
    <p:cover dir="l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Sipariş Kalemleri — Özet</a:t>
            </a:r>
          </a:p>
        </p:txBody>
      </p:sp>
      <p:sp>
        <p:nvSpPr>
          <p:cNvPr id="3" name="Shape 3"/>
          <p:cNvSpPr/>
          <p:nvPr/>
        </p:nvSpPr>
        <p:spPr>
          <a:xfrm>
            <a:off x="838200" y="1500000"/>
            <a:ext cx="10515600" cy="4800000"/>
          </a:xfrm>
          <a:prstGeom prst="rect">
            <a:avLst/>
          </a:prstGeom>
          <a:solidFill>
            <a:srgbClr val="FFF8F9FA"/>
          </a:solidFill>
          <a:ln w="12700">
            <a:solidFill>
              <a:srgbClr val="FFD0D5DD"/>
            </a:solidFill>
          </a:ln>
        </p:spPr>
        <p:txBody>
          <a:bodyPr/>
          <a:lstStyle/>
        </p:txBody>
      </p:sp>
      <p:sp>
        <p:nvSpPr>
          <p:cNvPr id="4" name="TextBox 4"/>
          <p:cNvSpPr txBox="1"/>
          <p:nvPr/>
        </p:nvSpPr>
        <p:spPr>
          <a:xfrm>
            <a:off x="980000" y="1650000"/>
            <a:ext cx="10200000" cy="4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000">
                <a:solidFill>
                  <a:srgbClr val="FF44546A"/>
                </a:solidFill>
              </a:rPr>
              <a:t>{{linesSummary}}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Kalite Durumu</a:t>
            </a:r>
          </a:p>
        </p:txBody>
      </p:sp>
      <p:sp>
        <p:nvSpPr>
          <p:cNvPr id="3" name="KPI 3"/>
          <p:cNvSpPr/>
          <p:nvPr/>
        </p:nvSpPr>
        <p:spPr>
          <a:xfrm>
            <a:off x="2200000" y="2000000"/>
            <a:ext cx="3600000" cy="22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C00000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C00000"/>
                </a:solidFill>
              </a:rPr>
              <a:t>Açık NCR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{{openNcrCount}}</a:t>
            </a:r>
          </a:p>
        </p:txBody>
      </p:sp>
      <p:sp>
        <p:nvSpPr>
          <p:cNvPr id="4" name="KPI 4"/>
          <p:cNvSpPr/>
          <p:nvPr/>
        </p:nvSpPr>
        <p:spPr>
          <a:xfrm>
            <a:off x="6400000" y="2000000"/>
            <a:ext cx="3600000" cy="2200000"/>
          </a:xfrm>
          <a:prstGeom prst="roundRect">
            <a:avLst/>
          </a:prstGeom>
          <a:solidFill>
            <a:srgbClr val="FFF2F2F2"/>
          </a:solidFill>
          <a:ln w="12700">
            <a:solidFill>
              <a:srgbClr val="FF7030A0"/>
            </a:solidFill>
          </a:ln>
        </p:spPr>
        <p:txBody>
          <a:bodyPr anchor="ctr"/>
          <a:lstStyle/>
          <a:p>
            <a:pPr algn="ctr"/>
            <a:r>
              <a:rPr lang="tr-TR" sz="1800" b="1">
                <a:solidFill>
                  <a:srgbClr val="FF7030A0"/>
                </a:solidFill>
              </a:rPr>
              <a:t>Açık CAPA</a:t>
            </a:r>
          </a:p>
          <a:p>
            <a:pPr algn="ctr"/>
            <a:r>
              <a:rPr lang="tr-TR" sz="3200" b="1">
                <a:solidFill>
                  <a:srgbClr val="FF1F4E79"/>
                </a:solidFill>
              </a:rPr>
              <a:t>{{openCapaCount}}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4800000"/>
            <a:ext cx="10515600" cy="1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>
                <a:solidFill>
                  <a:srgbClr val="FF44546A"/>
                </a:solidFill>
              </a:rPr>
              <a:t>Açık uygunsuzluk ve düzeltici faaliyetler operasyonel risk göstergesidir.</a:t>
            </a:r>
          </a:p>
          <a:p>
            <a:r>
              <a:rPr lang="tr-TR" sz="2200">
                <a:solidFill>
                  <a:srgbClr val="FF44546A"/>
                </a:solidFill>
              </a:rPr>
              <a:t>Detaylı kalite kayıtları için kontrol paneli XLSX dosyasına bakınız.</a:t>
            </a:r>
          </a:p>
        </p:txBody>
      </p:sp>
    </p:spTree>
  </p:cSld>
  <p:clrMapOvr>
    <a:masterClrMapping/>
  </p:clrMapOvr>
  <p:transition spd="med" advClick="1">
    <p:blinds dim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5800000"/>
            <a:ext cx="12192000" cy="1058000"/>
          </a:xfrm>
          <a:prstGeom prst="rect">
            <a:avLst/>
          </a:prstGeom>
          <a:solidFill>
            <a:srgbClr val="FF1F4E79"/>
          </a:solidFill>
          <a:ln w="0">
            <a:solidFill>
              <a:srgbClr val="FF1F4E79"/>
            </a:solidFill>
          </a:ln>
        </p:spPr>
        <p:txBody>
          <a:bodyPr/>
          <a:lstStyle/>
        </p:txBody>
      </p:sp>
      <p:sp>
        <p:nvSpPr>
          <p:cNvPr id="3" name="TextBox 3"/>
          <p:cNvSpPr txBox="1"/>
          <p:nvPr/>
        </p:nvSpPr>
        <p:spPr>
          <a:xfrm>
            <a:off x="838200" y="457200"/>
            <a:ext cx="105156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4000" b="1">
                <a:solidFill>
                  <a:srgbClr val="FF1F4E79"/>
                </a:solidFill>
              </a:rPr>
              <a:t>Sevkiyat &amp; Notlar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200" y="1500000"/>
            <a:ext cx="10515600" cy="32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200">
                <a:solidFill>
                  <a:srgbClr val="FF44546A"/>
                </a:solidFill>
              </a:rPr>
              <a:t>Sevkiyat adresi:</a:t>
            </a:r>
          </a:p>
          <a:p>
            <a:r>
              <a:rPr lang="tr-TR" sz="2200">
                <a:solidFill>
                  <a:srgbClr val="FF44546A"/>
                </a:solidFill>
              </a:rPr>
              <a:t>{{deliveryAddress}}</a:t>
            </a:r>
          </a:p>
          <a:p>
            <a:r>
              <a:rPr lang="tr-TR" sz="2200">
                <a:solidFill>
                  <a:srgbClr val="FF44546A"/>
                </a:solidFill>
              </a:rPr>
              <a:t/>
            </a:r>
          </a:p>
          <a:p>
            <a:r>
              <a:rPr lang="tr-TR" sz="2200">
                <a:solidFill>
                  <a:srgbClr val="FF44546A"/>
                </a:solidFill>
              </a:rPr>
              <a:t>Notlar:</a:t>
            </a:r>
          </a:p>
          <a:p>
            <a:r>
              <a:rPr lang="tr-TR" sz="2200">
                <a:solidFill>
                  <a:srgbClr val="FF44546A"/>
                </a:solidFill>
              </a:rPr>
              <a:t>{{notes}}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100000"/>
            <a:ext cx="52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2000">
                <a:solidFill>
                  <a:srgbClr val="FFFFFFFF"/>
                </a:solidFill>
              </a:rPr>
              <a:t>Üretim: {{generatedAt}}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0" y="6000000"/>
            <a:ext cx="42000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tr-TR" sz="3600" b="1">
                <a:solidFill>
                  <a:srgbClr val="FFFFFFFF"/>
                </a:solidFill>
              </a:rPr>
              <a:t>Teşekkürler</a:t>
            </a:r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Odak Executive">
  <a:themeElements>
    <a:clrScheme name="Odak">
      <a:dk1>
        <a:sysClr val="windowText" lastClr="000000"/>
      </a:dk1>
      <a:lt1>
        <a:sysClr val="window" lastClr="FFFFFF"/>
      </a:lt1>
      <a:dk2>
        <a:srgbClr val="1F4E79"/>
      </a:dk2>
      <a:lt2>
        <a:srgbClr val="F2F2F2"/>
      </a:lt2>
      <a:accent1>
        <a:srgbClr val="4472C4"/>
      </a:accent1>
      <a:accent2>
        <a:srgbClr val="ED7D31"/>
      </a:accent2>
      <a:accent3>
        <a:srgbClr val="70AD47"/>
      </a:accent3>
      <a:accent4>
        <a:srgbClr val="FFC000"/>
      </a:accent4>
      <a:accent5>
        <a:srgbClr val="5B9BD5"/>
      </a:accent5>
      <a:accent6>
        <a:srgbClr val="7030A0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